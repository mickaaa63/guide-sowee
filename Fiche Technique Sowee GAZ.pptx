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14000">
              <a:schemeClr val="accent6">
                <a:lumMod val="75000"/>
              </a:schemeClr>
            </a:gs>
            <a:gs pos="97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_LdN3_iderg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ziconfort.com/entretien-chaudiere/entretien-chaudiere-ga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8446B12-7391-4711-8B31-112A0B896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4428000"/>
            <a:ext cx="4607719" cy="1400400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>
                <a:solidFill>
                  <a:schemeClr val="bg1"/>
                </a:solidFill>
              </a:rPr>
              <a:t>Installation d’un thermostat connecté Sowee sur une chaudière gaz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4784" y="5316070"/>
            <a:ext cx="2620566" cy="418297"/>
          </a:xfrm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b">
            <a:normAutofit lnSpcReduction="10000"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i="1" dirty="0">
                <a:solidFill>
                  <a:schemeClr val="bg1"/>
                </a:solidFill>
              </a:rPr>
              <a:t>Guide Technique</a:t>
            </a:r>
          </a:p>
        </p:txBody>
      </p:sp>
      <p:pic>
        <p:nvPicPr>
          <p:cNvPr id="5" name="Image 4" descr="Une image contenant texte, bougie, intérieur&#10;&#10;Le contenu généré par l’IA peut être incorrect.">
            <a:extLst>
              <a:ext uri="{FF2B5EF4-FFF2-40B4-BE49-F238E27FC236}">
                <a16:creationId xmlns:a16="http://schemas.microsoft.com/office/drawing/2014/main" id="{804B6D0C-CB40-20DA-C260-D1C3201798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r="14191" b="-2"/>
          <a:stretch/>
        </p:blipFill>
        <p:spPr>
          <a:xfrm>
            <a:off x="20" y="-1"/>
            <a:ext cx="9143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C0B7807-0C83-4963-821A-69B172722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B027EC7-3252-48A2-A7A4-1741F72E4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EBC51E4-7477-4290-BBD0-18AD942C3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48721"/>
            <a:ext cx="3530753" cy="1225650"/>
          </a:xfrm>
        </p:spPr>
        <p:txBody>
          <a:bodyPr anchor="b">
            <a:normAutofit/>
          </a:bodyPr>
          <a:lstStyle/>
          <a:p>
            <a:r>
              <a:rPr lang="fr-FR" sz="3300">
                <a:solidFill>
                  <a:schemeClr val="bg1"/>
                </a:solidFill>
              </a:rPr>
              <a:t>Matériel nécessaire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3904" y="1749756"/>
            <a:ext cx="353872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326" y="1909192"/>
            <a:ext cx="3439885" cy="3647710"/>
          </a:xfrm>
        </p:spPr>
        <p:txBody>
          <a:bodyPr anchor="ctr">
            <a:norm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- Thermostat connecté </a:t>
            </a:r>
            <a:r>
              <a:rPr lang="fr-FR" sz="2000" dirty="0" err="1">
                <a:solidFill>
                  <a:schemeClr val="bg1"/>
                </a:solidFill>
              </a:rPr>
              <a:t>Sowee</a:t>
            </a:r>
            <a:endParaRPr lang="fr-FR" sz="2000" dirty="0">
              <a:solidFill>
                <a:schemeClr val="bg1"/>
              </a:solidFill>
            </a:endParaRPr>
          </a:p>
          <a:p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dirty="0">
                <a:solidFill>
                  <a:schemeClr val="bg1"/>
                </a:solidFill>
              </a:rPr>
              <a:t>- Module relais </a:t>
            </a:r>
            <a:r>
              <a:rPr lang="fr-FR" sz="2000" dirty="0" err="1">
                <a:solidFill>
                  <a:schemeClr val="bg1"/>
                </a:solidFill>
              </a:rPr>
              <a:t>Sowee</a:t>
            </a:r>
            <a:r>
              <a:rPr lang="fr-FR" sz="2000" dirty="0">
                <a:solidFill>
                  <a:schemeClr val="bg1"/>
                </a:solidFill>
              </a:rPr>
              <a:t> (actionneur)</a:t>
            </a:r>
          </a:p>
          <a:p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dirty="0">
                <a:solidFill>
                  <a:schemeClr val="bg1"/>
                </a:solidFill>
              </a:rPr>
              <a:t>- Accès au Wi-Fi domestique</a:t>
            </a:r>
          </a:p>
          <a:p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dirty="0">
                <a:solidFill>
                  <a:schemeClr val="bg1"/>
                </a:solidFill>
              </a:rPr>
              <a:t>- Smartphone ou tablette</a:t>
            </a:r>
          </a:p>
        </p:txBody>
      </p:sp>
      <p:pic>
        <p:nvPicPr>
          <p:cNvPr id="7" name="Image 6" descr="Une image contenant bougie, symbole, noir et blanc, léger&#10;&#10;Le contenu généré par l’IA peut être incorrect.">
            <a:extLst>
              <a:ext uri="{FF2B5EF4-FFF2-40B4-BE49-F238E27FC236}">
                <a16:creationId xmlns:a16="http://schemas.microsoft.com/office/drawing/2014/main" id="{F845FB30-ED03-C8B9-590A-C227551914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48" r="8490" b="3"/>
          <a:stretch/>
        </p:blipFill>
        <p:spPr>
          <a:xfrm>
            <a:off x="4894089" y="1"/>
            <a:ext cx="4249911" cy="3398024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A240C79-242E-4918-9F28-B101847D1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891707" y="3386960"/>
            <a:ext cx="425229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5520" y="5707672"/>
            <a:ext cx="353549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 descr="Une image contenant texte, horloge, conception">
            <a:extLst>
              <a:ext uri="{FF2B5EF4-FFF2-40B4-BE49-F238E27FC236}">
                <a16:creationId xmlns:a16="http://schemas.microsoft.com/office/drawing/2014/main" id="{44B27F23-FAE4-2479-02FF-7430A07371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58" r="15186" b="1"/>
          <a:stretch/>
        </p:blipFill>
        <p:spPr>
          <a:xfrm>
            <a:off x="4891707" y="3398024"/>
            <a:ext cx="4252293" cy="34690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605" y="1450655"/>
            <a:ext cx="2949023" cy="395669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900" dirty="0">
                <a:solidFill>
                  <a:schemeClr val="bg1"/>
                </a:solidFill>
              </a:rPr>
              <a:t>Étape 1 – Branchement du module relais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9628" y="116542"/>
            <a:ext cx="3560748" cy="6857999"/>
          </a:xfrm>
        </p:spPr>
        <p:txBody>
          <a:bodyPr anchor="ctr">
            <a:norm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- Couper l’alimentation électrique de la chaudière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- Ouvrir le capot de la chaudière et repérer     les bornes thermostat (souvent TA ou TH)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- Connecter les fils du relais </a:t>
            </a:r>
            <a:r>
              <a:rPr lang="fr-FR" sz="2400" dirty="0" err="1">
                <a:solidFill>
                  <a:schemeClr val="bg1"/>
                </a:solidFill>
              </a:rPr>
              <a:t>Sowee</a:t>
            </a:r>
            <a:r>
              <a:rPr lang="fr-FR" sz="2400" dirty="0">
                <a:solidFill>
                  <a:schemeClr val="bg1"/>
                </a:solidFill>
              </a:rPr>
              <a:t> aux bornes de la chaudière  </a:t>
            </a:r>
          </a:p>
        </p:txBody>
      </p:sp>
      <p:pic>
        <p:nvPicPr>
          <p:cNvPr id="5" name="Image 4" descr="Une image contenant machine, Ingénierie électronique, Appareils électroniques&#10;&#10;Le contenu généré par l’IA peut être incorrect.">
            <a:extLst>
              <a:ext uri="{FF2B5EF4-FFF2-40B4-BE49-F238E27FC236}">
                <a16:creationId xmlns:a16="http://schemas.microsoft.com/office/drawing/2014/main" id="{1728CE6D-8244-BE4B-E421-0F032ADBE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658" y="194089"/>
            <a:ext cx="2017059" cy="1831934"/>
          </a:xfrm>
          <a:prstGeom prst="rect">
            <a:avLst/>
          </a:prstGeom>
        </p:spPr>
      </p:pic>
      <p:pic>
        <p:nvPicPr>
          <p:cNvPr id="7" name="Image 6" descr="Une image contenant Ingénierie électronique, Appareils électroniques, fils électriques, câble&#10;&#10;Le contenu généré par l’IA peut être incorrect.">
            <a:extLst>
              <a:ext uri="{FF2B5EF4-FFF2-40B4-BE49-F238E27FC236}">
                <a16:creationId xmlns:a16="http://schemas.microsoft.com/office/drawing/2014/main" id="{99BC1917-28F6-1117-DE09-70F5C1D77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658" y="2649552"/>
            <a:ext cx="1945342" cy="1433333"/>
          </a:xfrm>
          <a:prstGeom prst="rect">
            <a:avLst/>
          </a:prstGeom>
        </p:spPr>
      </p:pic>
      <p:pic>
        <p:nvPicPr>
          <p:cNvPr id="11" name="Image 10" descr="Une image contenant câble, conception&#10;&#10;Le contenu généré par l’IA peut être incorrect.">
            <a:extLst>
              <a:ext uri="{FF2B5EF4-FFF2-40B4-BE49-F238E27FC236}">
                <a16:creationId xmlns:a16="http://schemas.microsoft.com/office/drawing/2014/main" id="{0D118210-2280-278A-E204-3B8B2C15B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658" y="5002586"/>
            <a:ext cx="1945342" cy="14333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CB593EA-2F98-479F-B4C4-F366571FA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15" descr="Une image contenant texte, capture d’écran, Site web, logiciel&#10;&#10;Le contenu généré par l’IA peut être incorrect.">
            <a:extLst>
              <a:ext uri="{FF2B5EF4-FFF2-40B4-BE49-F238E27FC236}">
                <a16:creationId xmlns:a16="http://schemas.microsoft.com/office/drawing/2014/main" id="{8FA21AFE-3524-8D2C-688B-0195A417B4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544" r="1" b="14118"/>
          <a:stretch/>
        </p:blipFill>
        <p:spPr>
          <a:xfrm>
            <a:off x="399711" y="457201"/>
            <a:ext cx="1813065" cy="2753390"/>
          </a:xfrm>
          <a:prstGeom prst="rect">
            <a:avLst/>
          </a:prstGeom>
        </p:spPr>
      </p:pic>
      <p:pic>
        <p:nvPicPr>
          <p:cNvPr id="14" name="Image 13" descr="Une image contenant texte, capture d’écran, logiciel, Système d’exploitation&#10;&#10;Le contenu généré par l’IA peut être incorrect.">
            <a:extLst>
              <a:ext uri="{FF2B5EF4-FFF2-40B4-BE49-F238E27FC236}">
                <a16:creationId xmlns:a16="http://schemas.microsoft.com/office/drawing/2014/main" id="{937F5D87-C709-0FE2-9F53-34885FDA2C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306" r="-1" b="32110"/>
          <a:stretch/>
        </p:blipFill>
        <p:spPr>
          <a:xfrm>
            <a:off x="2500841" y="1102505"/>
            <a:ext cx="1960032" cy="1462779"/>
          </a:xfrm>
          <a:prstGeom prst="rect">
            <a:avLst/>
          </a:prstGeom>
        </p:spPr>
      </p:pic>
      <p:pic>
        <p:nvPicPr>
          <p:cNvPr id="7" name="Image 6" descr="Une image contenant texte, capture d’écran, logiciel, Système d’exploitation&#10;&#10;Le contenu généré par l’IA peut être incorrect.">
            <a:extLst>
              <a:ext uri="{FF2B5EF4-FFF2-40B4-BE49-F238E27FC236}">
                <a16:creationId xmlns:a16="http://schemas.microsoft.com/office/drawing/2014/main" id="{41220D04-CEAC-D794-1221-E136026696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018" r="4" b="29571"/>
          <a:stretch/>
        </p:blipFill>
        <p:spPr>
          <a:xfrm>
            <a:off x="4743977" y="457200"/>
            <a:ext cx="1813912" cy="2753389"/>
          </a:xfrm>
          <a:prstGeom prst="rect">
            <a:avLst/>
          </a:prstGeom>
        </p:spPr>
      </p:pic>
      <p:pic>
        <p:nvPicPr>
          <p:cNvPr id="11" name="Image 10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48E5BE09-ACCB-6FE5-7425-CAE0673481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421" r="4" b="19274"/>
          <a:stretch/>
        </p:blipFill>
        <p:spPr>
          <a:xfrm>
            <a:off x="6920171" y="457200"/>
            <a:ext cx="1813886" cy="2753389"/>
          </a:xfrm>
          <a:prstGeom prst="rect">
            <a:avLst/>
          </a:prstGeom>
        </p:spPr>
      </p:pic>
      <p:pic>
        <p:nvPicPr>
          <p:cNvPr id="5" name="Image 4" descr="Une image contenant texte, capture d’écran, Publicité en ligne, Site web&#10;&#10;Le contenu généré par l’IA peut être incorrect.">
            <a:extLst>
              <a:ext uri="{FF2B5EF4-FFF2-40B4-BE49-F238E27FC236}">
                <a16:creationId xmlns:a16="http://schemas.microsoft.com/office/drawing/2014/main" id="{70212ED9-A457-04FF-D895-7A39723A0E3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490" r="1" b="19172"/>
          <a:stretch/>
        </p:blipFill>
        <p:spPr>
          <a:xfrm>
            <a:off x="1428842" y="3429000"/>
            <a:ext cx="1926778" cy="2926078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39BEB6D0-9E4E-4221-93D1-74ABECEE9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9432" y="3474720"/>
            <a:ext cx="4534568" cy="3383281"/>
          </a:xfrm>
          <a:prstGeom prst="rect">
            <a:avLst/>
          </a:prstGeom>
          <a:solidFill>
            <a:srgbClr val="314B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005CA5-FDDB-C253-0DBF-7894B09855B9}"/>
              </a:ext>
            </a:extLst>
          </p:cNvPr>
          <p:cNvSpPr/>
          <p:nvPr/>
        </p:nvSpPr>
        <p:spPr>
          <a:xfrm>
            <a:off x="4572000" y="3474720"/>
            <a:ext cx="4572000" cy="338328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739" y="3799272"/>
            <a:ext cx="3895311" cy="63712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1800">
                <a:solidFill>
                  <a:srgbClr val="FFFFFF"/>
                </a:solidFill>
              </a:rPr>
              <a:t>Étape 2 – Installation de la station Sowee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5521" y="4700527"/>
            <a:ext cx="4024957" cy="1758732"/>
          </a:xfrm>
        </p:spPr>
        <p:txBody>
          <a:bodyPr>
            <a:normAutofit/>
          </a:bodyPr>
          <a:lstStyle/>
          <a:p>
            <a:r>
              <a:rPr lang="fr-FR" sz="1600" dirty="0">
                <a:solidFill>
                  <a:srgbClr val="FFFFFF"/>
                </a:solidFill>
              </a:rPr>
              <a:t>- Brancher la station sur une prise secteur</a:t>
            </a:r>
          </a:p>
          <a:p>
            <a:r>
              <a:rPr lang="fr-FR" sz="1600" dirty="0">
                <a:solidFill>
                  <a:srgbClr val="FFFFFF"/>
                </a:solidFill>
              </a:rPr>
              <a:t>- Suivre les instructions à l’écran</a:t>
            </a:r>
          </a:p>
          <a:p>
            <a:r>
              <a:rPr lang="fr-FR" sz="1600" dirty="0">
                <a:solidFill>
                  <a:srgbClr val="FFFFFF"/>
                </a:solidFill>
              </a:rPr>
              <a:t>- Se connecter au Wi-Fi</a:t>
            </a:r>
          </a:p>
          <a:p>
            <a:r>
              <a:rPr lang="fr-FR" sz="1600" dirty="0">
                <a:solidFill>
                  <a:srgbClr val="FFFFFF"/>
                </a:solidFill>
              </a:rPr>
              <a:t>- Créer un compte </a:t>
            </a:r>
            <a:r>
              <a:rPr lang="fr-FR" sz="1600" dirty="0" err="1">
                <a:solidFill>
                  <a:srgbClr val="FFFFFF"/>
                </a:solidFill>
              </a:rPr>
              <a:t>Sowee</a:t>
            </a:r>
            <a:r>
              <a:rPr lang="fr-FR" sz="1600" dirty="0">
                <a:solidFill>
                  <a:srgbClr val="FFFFFF"/>
                </a:solidFill>
              </a:rPr>
              <a:t> ou se connecter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605" y="1450655"/>
            <a:ext cx="2949023" cy="395669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4900" dirty="0">
                <a:solidFill>
                  <a:schemeClr val="bg1"/>
                </a:solidFill>
              </a:rPr>
              <a:t>Étape 3 – Appairage relais / station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108061"/>
            <a:ext cx="3756675" cy="4571972"/>
          </a:xfrm>
        </p:spPr>
        <p:txBody>
          <a:bodyPr anchor="ctr">
            <a:norm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- La station détecte automatiquement le module relais</a:t>
            </a:r>
          </a:p>
          <a:p>
            <a:r>
              <a:rPr lang="fr-FR" sz="2400" dirty="0">
                <a:solidFill>
                  <a:schemeClr val="bg1"/>
                </a:solidFill>
              </a:rPr>
              <a:t>- Confirmer l’appairage via l’écran de la station</a:t>
            </a:r>
          </a:p>
          <a:p>
            <a:r>
              <a:rPr lang="fr-FR" sz="2400" dirty="0">
                <a:solidFill>
                  <a:schemeClr val="bg1"/>
                </a:solidFill>
              </a:rPr>
              <a:t>- Vérifier que la chaudière réagit correctement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05265DC-CF6B-4AE8-B3F3-2A7A1637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100804"/>
            <a:ext cx="3293268" cy="190788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200" dirty="0">
                <a:solidFill>
                  <a:schemeClr val="bg1"/>
                </a:solidFill>
              </a:rPr>
              <a:t>Étape 4 – Positionnement de la station</a:t>
            </a:r>
          </a:p>
        </p:txBody>
      </p:sp>
      <p:pic>
        <p:nvPicPr>
          <p:cNvPr id="5" name="Image 4" descr="Une image contenant intérieur, lampe, mur, jaune">
            <a:extLst>
              <a:ext uri="{FF2B5EF4-FFF2-40B4-BE49-F238E27FC236}">
                <a16:creationId xmlns:a16="http://schemas.microsoft.com/office/drawing/2014/main" id="{A4424931-812C-B403-F5EB-952B501036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8" r="1" b="1"/>
          <a:stretch/>
        </p:blipFill>
        <p:spPr>
          <a:xfrm>
            <a:off x="20" y="2"/>
            <a:ext cx="9143980" cy="3418853"/>
          </a:xfrm>
          <a:custGeom>
            <a:avLst/>
            <a:gdLst/>
            <a:ahLst/>
            <a:cxnLst/>
            <a:rect l="l" t="t" r="r" b="b"/>
            <a:pathLst>
              <a:path w="12192000" h="3418853">
                <a:moveTo>
                  <a:pt x="0" y="0"/>
                </a:moveTo>
                <a:lnTo>
                  <a:pt x="12192000" y="0"/>
                </a:lnTo>
                <a:lnTo>
                  <a:pt x="12192000" y="227978"/>
                </a:lnTo>
                <a:lnTo>
                  <a:pt x="12192000" y="2065168"/>
                </a:lnTo>
                <a:lnTo>
                  <a:pt x="12192000" y="3342653"/>
                </a:lnTo>
                <a:lnTo>
                  <a:pt x="9439275" y="3418853"/>
                </a:lnTo>
                <a:lnTo>
                  <a:pt x="5572127" y="3171203"/>
                </a:lnTo>
                <a:lnTo>
                  <a:pt x="0" y="3342653"/>
                </a:lnTo>
                <a:lnTo>
                  <a:pt x="0" y="2065168"/>
                </a:lnTo>
                <a:lnTo>
                  <a:pt x="0" y="227978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37EA779C-87BF-454F-919D-A3DA98FD8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59818"/>
            <a:ext cx="9144000" cy="757168"/>
            <a:chOff x="0" y="2959818"/>
            <a:chExt cx="12192000" cy="757168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8C2E702-9A3E-420B-81FC-693685CAF6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40418-2F7D-4A2A-84C0-1A72B0307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150" y="4197093"/>
            <a:ext cx="4269581" cy="1648849"/>
          </a:xfrm>
        </p:spPr>
        <p:txBody>
          <a:bodyPr>
            <a:normAutofit/>
          </a:bodyPr>
          <a:lstStyle/>
          <a:p>
            <a:r>
              <a:rPr lang="fr-FR" sz="2100" dirty="0">
                <a:solidFill>
                  <a:schemeClr val="bg1">
                    <a:alpha val="80000"/>
                  </a:schemeClr>
                </a:solidFill>
              </a:rPr>
              <a:t>- Installer la station dans une pièce de vie</a:t>
            </a:r>
          </a:p>
          <a:p>
            <a:r>
              <a:rPr lang="fr-FR" sz="2100" dirty="0">
                <a:solidFill>
                  <a:schemeClr val="bg1">
                    <a:alpha val="80000"/>
                  </a:schemeClr>
                </a:solidFill>
              </a:rPr>
              <a:t>- Éviter les sources de chaleur ou de froid direct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7199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7" y="637763"/>
            <a:ext cx="3233024" cy="1627274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fr-FR" sz="2900" dirty="0">
                <a:solidFill>
                  <a:schemeClr val="bg1"/>
                </a:solidFill>
              </a:rPr>
              <a:t>Étape 6 – Configuration de la programmation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6667" y="2372156"/>
            <a:ext cx="3429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7" y="2581065"/>
            <a:ext cx="3213312" cy="3633467"/>
          </a:xfrm>
        </p:spPr>
        <p:txBody>
          <a:bodyPr>
            <a:norm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- Créer des plages horaires de chauffage</a:t>
            </a:r>
          </a:p>
          <a:p>
            <a:r>
              <a:rPr lang="fr-FR" sz="2400" dirty="0">
                <a:solidFill>
                  <a:schemeClr val="bg1"/>
                </a:solidFill>
              </a:rPr>
              <a:t>- Choisir les températures de confort et d’éco</a:t>
            </a:r>
          </a:p>
          <a:p>
            <a:r>
              <a:rPr lang="fr-FR" sz="2400" dirty="0">
                <a:solidFill>
                  <a:schemeClr val="bg1"/>
                </a:solidFill>
              </a:rPr>
              <a:t>- Activer la géolocalisation si souhaitée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texte, capture d’écran, Téléphone mobile, multimédia&#10;&#10;Le contenu généré par l’IA peut être incorrect.">
            <a:extLst>
              <a:ext uri="{FF2B5EF4-FFF2-40B4-BE49-F238E27FC236}">
                <a16:creationId xmlns:a16="http://schemas.microsoft.com/office/drawing/2014/main" id="{695EE74B-2303-D9B6-65BF-82082FE96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598" y="1528475"/>
            <a:ext cx="3229418" cy="37953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7199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7" y="4551036"/>
            <a:ext cx="3213315" cy="1687143"/>
          </a:xfrm>
        </p:spPr>
        <p:txBody>
          <a:bodyPr anchor="t">
            <a:normAutofit/>
          </a:bodyPr>
          <a:lstStyle/>
          <a:p>
            <a:pPr algn="l"/>
            <a:r>
              <a:rPr lang="fr-FR">
                <a:solidFill>
                  <a:schemeClr val="bg1"/>
                </a:solidFill>
              </a:rPr>
              <a:t>Assistance et conseils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texte, Graphique, graphisme, logo&#10;&#10;Le contenu généré par l’IA peut être incorrect.">
            <a:extLst>
              <a:ext uri="{FF2B5EF4-FFF2-40B4-BE49-F238E27FC236}">
                <a16:creationId xmlns:a16="http://schemas.microsoft.com/office/drawing/2014/main" id="{DFB5A057-41A2-2E1F-EB0C-9AF456FD24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34" r="-2" b="3418"/>
          <a:stretch/>
        </p:blipFill>
        <p:spPr>
          <a:xfrm>
            <a:off x="866667" y="637762"/>
            <a:ext cx="7417323" cy="3579308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0987" y="4544112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986" y="4750698"/>
            <a:ext cx="3233004" cy="1463834"/>
          </a:xfrm>
        </p:spPr>
        <p:txBody>
          <a:bodyPr>
            <a:normAutofit/>
          </a:bodyPr>
          <a:lstStyle/>
          <a:p>
            <a:r>
              <a:rPr lang="fr-FR" sz="1400" dirty="0"/>
              <a:t>- Contacter le service client </a:t>
            </a:r>
            <a:r>
              <a:rPr lang="fr-FR" sz="1400" dirty="0" err="1"/>
              <a:t>Sowee</a:t>
            </a:r>
            <a:r>
              <a:rPr lang="fr-FR" sz="1400" dirty="0"/>
              <a:t> si besoin au </a:t>
            </a:r>
            <a:r>
              <a:rPr lang="fr-FR" sz="1400" b="1" u="sng" dirty="0"/>
              <a:t>0806 800 444</a:t>
            </a:r>
          </a:p>
          <a:p>
            <a:r>
              <a:rPr lang="fr-FR" sz="1400" dirty="0"/>
              <a:t>- </a:t>
            </a:r>
            <a:r>
              <a:rPr lang="fr-FR" sz="1400" dirty="0">
                <a:hlinkClick r:id="rId3"/>
              </a:rPr>
              <a:t>Tuto Installation Thermostat connecté gaz</a:t>
            </a:r>
            <a:endParaRPr lang="fr-FR" sz="1400" dirty="0"/>
          </a:p>
          <a:p>
            <a:r>
              <a:rPr lang="fr-FR" sz="1400" dirty="0"/>
              <a:t>- Entretenir sa chaudière régulièrement avec </a:t>
            </a:r>
            <a:r>
              <a:rPr lang="fr-FR" sz="1400" dirty="0">
                <a:hlinkClick r:id="rId4"/>
              </a:rPr>
              <a:t>IZI Confort</a:t>
            </a:r>
            <a:endParaRPr lang="fr-FR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2d26f538-337a-4593-a7e6-123667b1a538}" enabled="1" method="Standard" siteId="{e242425b-70fc-44dc-9ddf-c21e304e6c8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225</Words>
  <Application>Microsoft Office PowerPoint</Application>
  <PresentationFormat>Affichage à l'écran (4:3)</PresentationFormat>
  <Paragraphs>38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Installation d’un thermostat connecté Sowee sur une chaudière gaz</vt:lpstr>
      <vt:lpstr>Matériel nécessaire</vt:lpstr>
      <vt:lpstr>Étape 1 – Branchement du module relais</vt:lpstr>
      <vt:lpstr>Étape 2 – Installation de la station Sowee</vt:lpstr>
      <vt:lpstr>Étape 3 – Appairage relais / station</vt:lpstr>
      <vt:lpstr>Étape 4 – Positionnement de la station</vt:lpstr>
      <vt:lpstr>Étape 6 – Configuration de la programmation</vt:lpstr>
      <vt:lpstr>Assistance et conseils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 d’un thermostat connecté Sowee sur une chaudière gaz</dc:title>
  <dc:subject/>
  <dc:creator/>
  <cp:keywords/>
  <dc:description>generated using python-pptx</dc:description>
  <cp:lastModifiedBy>FEYFEUX Mickael</cp:lastModifiedBy>
  <cp:revision>4</cp:revision>
  <dcterms:created xsi:type="dcterms:W3CDTF">2013-01-27T09:14:16Z</dcterms:created>
  <dcterms:modified xsi:type="dcterms:W3CDTF">2025-04-09T20:53:36Z</dcterms:modified>
  <cp:category/>
</cp:coreProperties>
</file>